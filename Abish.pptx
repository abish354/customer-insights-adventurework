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1" d="100"/>
          <a:sy n="81" d="100"/>
        </p:scale>
        <p:origin x="4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15390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5416309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111584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9507067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855672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9237712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7951351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1396151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885727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819932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1654494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516749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69344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10/5/2026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0040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with-n.org/you-have-any-questions-let-me-know-if-you-have-any-questions/" TargetMode="External"/><Relationship Id="rId5" Type="http://schemas.openxmlformats.org/officeDocument/2006/relationships/image" Target="../media/image9.jpg"/><Relationship Id="rId4" Type="http://schemas.openxmlformats.org/officeDocument/2006/relationships/hyperlink" Target="https://in.pinterest.com/pin/110760472081143672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60955" y="249219"/>
            <a:ext cx="1139414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Insights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3160955" y="1328569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B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AdventureWorks Customer Profile Analysis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413702" y="62636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AEB8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by Abish Inamdar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Data — “Sheet1”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212080" cy="489204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14630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7830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Sheet1!A1:M18149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24688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Columns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788920"/>
            <a:ext cx="46634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CustomerKey   •   Prefix   •   FirstName   •   LastName   •   BirthDate   •   MaritalStatus   •   Gender   •   EmailAddress   •   AnnualIncome   •   TotalChildren   •   EducationLevel   •   Occupation   •   HomeOwner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22960" y="43434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18,148 customer records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4663440"/>
            <a:ext cx="46634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row per AdventureWorks customer, covering demographics, income, education, occupation, and home ownership.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035040" y="12344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rows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0" y="1600200"/>
          <a:ext cx="5577840" cy="2481072"/>
        </p:xfrm>
        <a:graphic>
          <a:graphicData uri="http://schemas.openxmlformats.org/drawingml/2006/table">
            <a:tbl>
              <a:tblPr/>
              <a:tblGrid>
                <a:gridCol w="960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CustomerKey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Marital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Gender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Income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Occupation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HomeOwner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Jon Yang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$90,000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Professional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11001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Eugene Huang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$60,000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Professional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11003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Christy Zhu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$70,000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Professional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11012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Lauren Walker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$100,000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Management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11015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Chloe Young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$30,000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Skilled Manual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...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...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...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...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...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...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...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6035040" y="4160520"/>
            <a:ext cx="5577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E87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r>
              <a:rPr lang="en-US" sz="12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flat table is the source for every summary, chart, and breakdown that follows.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035040" y="4800600"/>
            <a:ext cx="5577840" cy="132588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309360" y="49377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Stats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6309360" y="5257800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15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income: </a:t>
            </a:r>
            <a:r>
              <a:rPr lang="en-US" sz="11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$57,269    </a:t>
            </a:r>
            <a:r>
              <a:rPr lang="en-US" sz="115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children: </a:t>
            </a:r>
            <a:r>
              <a:rPr lang="en-US" sz="11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1.84
</a:t>
            </a:r>
            <a:r>
              <a:rPr lang="en-US" sz="115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Homeowners: </a:t>
            </a:r>
            <a:r>
              <a:rPr lang="en-US" sz="11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12,260 (68%)    </a:t>
            </a:r>
            <a:r>
              <a:rPr lang="en-US" sz="115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Married: </a:t>
            </a:r>
            <a:r>
              <a:rPr lang="en-US" sz="11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9,817 (54%)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Income by Occupation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annual income varies sharply across the 5 occupation categories.</a:t>
            </a:r>
            <a:endParaRPr lang="en-US" sz="1300" dirty="0"/>
          </a:p>
        </p:txBody>
      </p:sp>
      <p:pic>
        <p:nvPicPr>
          <p:cNvPr id="4" name="Image 0" descr="/home/claude/chart_income_occupatio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31520" y="1463040"/>
            <a:ext cx="5852160" cy="42062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949440" y="1463040"/>
            <a:ext cx="4480560" cy="420624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223760" y="16459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Ranking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23760" y="2011680"/>
          <a:ext cx="3931920" cy="246888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Occupation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Avg Income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Management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$92,219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Professional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$74,167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Skilled Manual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$51,733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Clerical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$30,696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Manual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$16,473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548640" y="58521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E87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r>
              <a:rPr lang="en-US" sz="12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earners average nearly 6x what Manual-occupation customers earn — the widest gap in the dataset.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Education Level Distribution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18,148 customers break down by highest education level attained.</a:t>
            </a:r>
            <a:endParaRPr lang="en-US" sz="1300" dirty="0"/>
          </a:p>
        </p:txBody>
      </p:sp>
      <p:pic>
        <p:nvPicPr>
          <p:cNvPr id="4" name="Image 0" descr="/home/claude/chart_educatio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554480" y="1463040"/>
            <a:ext cx="5486400" cy="44805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89520" y="1463040"/>
            <a:ext cx="3840480" cy="448056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863840" y="16459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Breakdown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863840" y="2011680"/>
          <a:ext cx="3291840" cy="2304288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Level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Count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Bachelors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5,261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Partial College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4,966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 School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3,241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Graduate Degree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3,125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Partial High Sch.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1,555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548640" y="60807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E87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r>
              <a:rPr lang="en-US" sz="12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Nearly 1 in 3 customers hold a Bachelor's degree, the single largest education segment.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Ownership by Marital Status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Married customers own homes at a notably higher rate than single customers.</a:t>
            </a:r>
            <a:endParaRPr lang="en-US" sz="1300" dirty="0"/>
          </a:p>
        </p:txBody>
      </p:sp>
      <p:pic>
        <p:nvPicPr>
          <p:cNvPr id="4" name="Image 0" descr="/home/claude/chart_homeowner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31520" y="1463040"/>
            <a:ext cx="5852160" cy="42062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949440" y="1463040"/>
            <a:ext cx="4480560" cy="420624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223760" y="16459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Totals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23760" y="2011680"/>
          <a:ext cx="3931920" cy="123444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Owner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Non-owner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Married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8,001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1,816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Single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4,259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4,072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7223760" y="324612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Married ownership rate: 81.5%  ·  Single ownership rate: 51.1%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548640" y="58521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E87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r>
              <a:rPr lang="en-US" sz="12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Married customers are homeowners 81.5% of the time, vs. 51.1% for single customers — a 30-point gap, the strongest relationship in this dataset.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Pivot Table vs Pivot Chart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5394960" cy="2331720"/>
          </a:xfrm>
          <a:prstGeom prst="roundRect">
            <a:avLst>
              <a:gd name="adj" fmla="val 3137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137160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 Pivot Table?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48463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Pivot Table summarizes large amounts of raw data into a compact grid. It lets you group, filter, count, and sum rows (e.g. Sheet1!A1:M18149) by fields like Gender, EducationLevel, or Occupation — without writing formulas.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217920" y="1188720"/>
            <a:ext cx="5394960" cy="2331720"/>
          </a:xfrm>
          <a:prstGeom prst="roundRect">
            <a:avLst>
              <a:gd name="adj" fmla="val 3137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92240" y="137160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7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 Pivot Chart?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92240" y="1828800"/>
            <a:ext cx="48463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Pivot Chart is a visual (bar, pie, column, etc.) built directly on top of a Pivot Table's output. It updates automatically whenever the Pivot Table refreshes, giving a live picture of the same summarized data — like the donut chart on this dashboard.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3703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Pivot table screenshot</a:t>
            </a:r>
            <a:endParaRPr lang="en-US" sz="1400" dirty="0"/>
          </a:p>
        </p:txBody>
      </p:sp>
      <p:pic>
        <p:nvPicPr>
          <p:cNvPr id="10" name="Image 0" descr="/home/claude/sheet3_img1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4114800"/>
            <a:ext cx="11064240" cy="24231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Pivot Table Views — Gender, Education &amp; Income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pivot table views built from the same Sheet1!A1:M18149 source, sliced by Gender.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5532120" cy="4663440"/>
          </a:xfrm>
          <a:prstGeom prst="roundRect">
            <a:avLst>
              <a:gd name="adj" fmla="val 1176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sheet3_img1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0080" y="1600200"/>
            <a:ext cx="5166360" cy="43891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172200" y="1463040"/>
            <a:ext cx="5532120" cy="4663440"/>
          </a:xfrm>
          <a:prstGeom prst="roundRect">
            <a:avLst>
              <a:gd name="adj" fmla="val 1176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/home/claude/sheet3_img2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451997" y="1682537"/>
            <a:ext cx="4972525" cy="422444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48640" y="621792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B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Left: </a:t>
            </a:r>
            <a:r>
              <a:rPr lang="en-US" sz="11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Pivot table counting customers by Gender (F 214 · M 236 · NA 7), plus a second pivot crossing Gender with EducationLevel and total AnnualIncome.   </a:t>
            </a:r>
            <a:r>
              <a:rPr lang="en-US" sz="1150" b="1" dirty="0">
                <a:solidFill>
                  <a:srgbClr val="1B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Right: </a:t>
            </a:r>
            <a:r>
              <a:rPr lang="en-US" sz="11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Gender pivot with Sum of AnnualIncome as a donut (M 52% · F 47% · NA 1%), plus EducationLevel / BirthDate / Occupation slicers to filter it further.</a:t>
            </a:r>
            <a:endParaRPr lang="en-US" sz="115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62653FB-34EF-439B-92E8-7A17733745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31388" y="1463040"/>
            <a:ext cx="6360612" cy="45262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097280" y="1280160"/>
            <a:ext cx="9966960" cy="5029200"/>
          </a:xfrm>
          <a:prstGeom prst="roundRect">
            <a:avLst>
              <a:gd name="adj" fmla="val 1091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A17CE4A-A562-4F3F-A5E7-28BE724BED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728" y="1138518"/>
            <a:ext cx="11412543" cy="538177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34753" y="690282"/>
            <a:ext cx="3903233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4000" dirty="0">
              <a:solidFill>
                <a:srgbClr val="C00000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731520" y="361188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0F5C7A-8619-48A3-ACEB-7DBC3DC7E53A}"/>
              </a:ext>
            </a:extLst>
          </p:cNvPr>
          <p:cNvSpPr txBox="1"/>
          <p:nvPr/>
        </p:nvSpPr>
        <p:spPr>
          <a:xfrm>
            <a:off x="4254939" y="4024166"/>
            <a:ext cx="264221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\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16D0D52-AA8B-4F44-938C-0783EFA8F6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762000" y="0"/>
            <a:ext cx="10287000" cy="318247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D562FA0-3CB0-4902-A837-7ADE75F5919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1507270" y="3696510"/>
            <a:ext cx="9146980" cy="299611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</TotalTime>
  <Words>577</Words>
  <Application>Microsoft Office PowerPoint</Application>
  <PresentationFormat>Widescreen</PresentationFormat>
  <Paragraphs>129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Admin</cp:lastModifiedBy>
  <cp:revision>6</cp:revision>
  <dcterms:created xsi:type="dcterms:W3CDTF">2026-08-10T06:06:35Z</dcterms:created>
  <dcterms:modified xsi:type="dcterms:W3CDTF">2026-10-05T07:16:19Z</dcterms:modified>
</cp:coreProperties>
</file>